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5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/home/claude/extracted_images/img-000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>
            <a:off x="7863840" y="0"/>
            <a:ext cx="4297680" cy="6858000"/>
          </a:xfrm>
          <a:prstGeom prst="rect"/>
        </p:spPr>
      </p:pic>
      <p:sp>
        <p:nvSpPr>
          <p:cNvPr id="1048576" name="Shape 0"/>
          <p:cNvSpPr/>
          <p:nvPr/>
        </p:nvSpPr>
        <p:spPr>
          <a:xfrm>
            <a:off x="7863840" y="0"/>
            <a:ext cx="1005840" cy="6858000"/>
          </a:xfrm>
          <a:prstGeom prst="rect"/>
          <a:solidFill>
            <a:srgbClr val="1E2761">
              <a:alpha val="85000"/>
            </a:srgbClr>
          </a:solidFill>
        </p:spPr>
      </p:sp>
      <p:sp>
        <p:nvSpPr>
          <p:cNvPr id="1048577" name="Shape 1"/>
          <p:cNvSpPr/>
          <p:nvPr/>
        </p:nvSpPr>
        <p:spPr>
          <a:xfrm>
            <a:off x="7863840" y="0"/>
            <a:ext cx="4297680" cy="6858000"/>
          </a:xfrm>
          <a:prstGeom prst="rect"/>
          <a:solidFill>
            <a:srgbClr val="151B47">
              <a:alpha val="28000"/>
            </a:srgbClr>
          </a:solidFill>
        </p:spPr>
      </p:sp>
      <p:pic>
        <p:nvPicPr>
          <p:cNvPr id="2097153" name="Image 1" descr="/home/claude/logo_unipe_white_text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578" name="Text 2"/>
          <p:cNvSpPr/>
          <p:nvPr/>
        </p:nvSpPr>
        <p:spPr>
          <a:xfrm>
            <a:off x="548640" y="2331720"/>
            <a:ext cx="694944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6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UniTrade</a:t>
            </a:r>
            <a:endParaRPr dirty="0" sz="6000" lang="en-US"/>
          </a:p>
        </p:txBody>
      </p:sp>
      <p:sp>
        <p:nvSpPr>
          <p:cNvPr id="1048579" name="Shape 3"/>
          <p:cNvSpPr/>
          <p:nvPr/>
        </p:nvSpPr>
        <p:spPr>
          <a:xfrm>
            <a:off x="566928" y="3584448"/>
            <a:ext cx="82296" cy="82296"/>
          </a:xfrm>
          <a:prstGeom prst="ellipse"/>
          <a:solidFill>
            <a:srgbClr val="F2B705"/>
          </a:solidFill>
        </p:spPr>
      </p:sp>
      <p:sp>
        <p:nvSpPr>
          <p:cNvPr id="1048580" name="Text 4"/>
          <p:cNvSpPr/>
          <p:nvPr/>
        </p:nvSpPr>
        <p:spPr>
          <a:xfrm>
            <a:off x="777240" y="3456432"/>
            <a:ext cx="66751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7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Marketplace universitário de vendas e trocas</a:t>
            </a:r>
            <a:endParaRPr dirty="0" sz="1700" lang="en-US"/>
          </a:p>
        </p:txBody>
      </p:sp>
      <p:sp>
        <p:nvSpPr>
          <p:cNvPr id="1048581" name="Text 5"/>
          <p:cNvSpPr/>
          <p:nvPr/>
        </p:nvSpPr>
        <p:spPr>
          <a:xfrm>
            <a:off x="548640" y="4160520"/>
            <a:ext cx="69494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Final: </a:t>
            </a: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 de Sistemas Computacionais</a:t>
            </a:r>
            <a:endParaRPr dirty="0" sz="1600" lang="en-US"/>
          </a:p>
        </p:txBody>
      </p:sp>
      <p:sp>
        <p:nvSpPr>
          <p:cNvPr id="1048582" name="Text 6"/>
          <p:cNvSpPr/>
          <p:nvPr/>
        </p:nvSpPr>
        <p:spPr>
          <a:xfrm>
            <a:off x="548640" y="6080760"/>
            <a:ext cx="4572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Joanacelle C. Melo</a:t>
            </a:r>
            <a:endParaRPr dirty="0" sz="13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Image 0" descr="/home/claude/logo_unipe_transparen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586" name="Text 0"/>
          <p:cNvSpPr/>
          <p:nvPr/>
        </p:nvSpPr>
        <p:spPr>
          <a:xfrm>
            <a:off x="548640" y="1051560"/>
            <a:ext cx="731520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</a:t>
            </a:r>
            <a:endParaRPr dirty="0" sz="3800" lang="en-US"/>
          </a:p>
        </p:txBody>
      </p:sp>
      <p:sp>
        <p:nvSpPr>
          <p:cNvPr id="1048587" name="Text 1"/>
          <p:cNvSpPr/>
          <p:nvPr/>
        </p:nvSpPr>
        <p:spPr>
          <a:xfrm>
            <a:off x="548640" y="1691640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400" lang="en-US"/>
          </a:p>
        </p:txBody>
      </p:sp>
      <p:sp>
        <p:nvSpPr>
          <p:cNvPr id="1048588" name="Shape 2"/>
          <p:cNvSpPr/>
          <p:nvPr/>
        </p:nvSpPr>
        <p:spPr>
          <a:xfrm>
            <a:off x="548640" y="2331720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589" name="Text 3"/>
          <p:cNvSpPr/>
          <p:nvPr/>
        </p:nvSpPr>
        <p:spPr>
          <a:xfrm>
            <a:off x="548640" y="233172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600" lang="en-US"/>
          </a:p>
        </p:txBody>
      </p:sp>
      <p:sp>
        <p:nvSpPr>
          <p:cNvPr id="1048590" name="Text 4"/>
          <p:cNvSpPr/>
          <p:nvPr/>
        </p:nvSpPr>
        <p:spPr>
          <a:xfrm>
            <a:off x="1078992" y="2331720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dirty="0" sz="1600" lang="en-US"/>
          </a:p>
        </p:txBody>
      </p:sp>
      <p:sp>
        <p:nvSpPr>
          <p:cNvPr id="1048591" name="Shape 5"/>
          <p:cNvSpPr/>
          <p:nvPr/>
        </p:nvSpPr>
        <p:spPr>
          <a:xfrm>
            <a:off x="548640" y="2898648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592" name="Text 6"/>
          <p:cNvSpPr/>
          <p:nvPr/>
        </p:nvSpPr>
        <p:spPr>
          <a:xfrm>
            <a:off x="548640" y="2898648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600" lang="en-US"/>
          </a:p>
        </p:txBody>
      </p:sp>
      <p:sp>
        <p:nvSpPr>
          <p:cNvPr id="1048593" name="Text 7"/>
          <p:cNvSpPr/>
          <p:nvPr/>
        </p:nvSpPr>
        <p:spPr>
          <a:xfrm>
            <a:off x="1078992" y="2898648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dirty="0" sz="1600" lang="en-US"/>
          </a:p>
        </p:txBody>
      </p:sp>
      <p:sp>
        <p:nvSpPr>
          <p:cNvPr id="1048594" name="Shape 8"/>
          <p:cNvSpPr/>
          <p:nvPr/>
        </p:nvSpPr>
        <p:spPr>
          <a:xfrm>
            <a:off x="548640" y="3465576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595" name="Text 9"/>
          <p:cNvSpPr/>
          <p:nvPr/>
        </p:nvSpPr>
        <p:spPr>
          <a:xfrm>
            <a:off x="548640" y="34655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600" lang="en-US"/>
          </a:p>
        </p:txBody>
      </p:sp>
      <p:sp>
        <p:nvSpPr>
          <p:cNvPr id="1048596" name="Text 10"/>
          <p:cNvSpPr/>
          <p:nvPr/>
        </p:nvSpPr>
        <p:spPr>
          <a:xfrm>
            <a:off x="1078992" y="3465576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dirty="0" sz="1600" lang="en-US"/>
          </a:p>
        </p:txBody>
      </p:sp>
      <p:sp>
        <p:nvSpPr>
          <p:cNvPr id="1048597" name="Shape 11"/>
          <p:cNvSpPr/>
          <p:nvPr/>
        </p:nvSpPr>
        <p:spPr>
          <a:xfrm>
            <a:off x="548640" y="4032504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598" name="Text 12"/>
          <p:cNvSpPr/>
          <p:nvPr/>
        </p:nvSpPr>
        <p:spPr>
          <a:xfrm>
            <a:off x="548640" y="40325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600" lang="en-US"/>
          </a:p>
        </p:txBody>
      </p:sp>
      <p:sp>
        <p:nvSpPr>
          <p:cNvPr id="1048599" name="Text 13"/>
          <p:cNvSpPr/>
          <p:nvPr/>
        </p:nvSpPr>
        <p:spPr>
          <a:xfrm>
            <a:off x="1078992" y="4032504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protótipo</a:t>
            </a:r>
            <a:endParaRPr dirty="0" sz="1600" lang="en-US"/>
          </a:p>
        </p:txBody>
      </p:sp>
      <p:sp>
        <p:nvSpPr>
          <p:cNvPr id="1048600" name="Shape 14"/>
          <p:cNvSpPr/>
          <p:nvPr/>
        </p:nvSpPr>
        <p:spPr>
          <a:xfrm>
            <a:off x="6309360" y="2331720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01" name="Text 15"/>
          <p:cNvSpPr/>
          <p:nvPr/>
        </p:nvSpPr>
        <p:spPr>
          <a:xfrm>
            <a:off x="6309360" y="233172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600" lang="en-US"/>
          </a:p>
        </p:txBody>
      </p:sp>
      <p:sp>
        <p:nvSpPr>
          <p:cNvPr id="1048602" name="Text 16"/>
          <p:cNvSpPr/>
          <p:nvPr/>
        </p:nvSpPr>
        <p:spPr>
          <a:xfrm>
            <a:off x="6839712" y="2331720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algoritmo</a:t>
            </a:r>
            <a:endParaRPr dirty="0" sz="1600" lang="en-US"/>
          </a:p>
        </p:txBody>
      </p:sp>
      <p:sp>
        <p:nvSpPr>
          <p:cNvPr id="1048603" name="Shape 17"/>
          <p:cNvSpPr/>
          <p:nvPr/>
        </p:nvSpPr>
        <p:spPr>
          <a:xfrm>
            <a:off x="6309360" y="2898648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04" name="Text 18"/>
          <p:cNvSpPr/>
          <p:nvPr/>
        </p:nvSpPr>
        <p:spPr>
          <a:xfrm>
            <a:off x="6309360" y="2898648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600" lang="en-US"/>
          </a:p>
        </p:txBody>
      </p:sp>
      <p:sp>
        <p:nvSpPr>
          <p:cNvPr id="1048605" name="Text 19"/>
          <p:cNvSpPr/>
          <p:nvPr/>
        </p:nvSpPr>
        <p:spPr>
          <a:xfrm>
            <a:off x="6839712" y="2898648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dirty="0" sz="1600" lang="en-US"/>
          </a:p>
        </p:txBody>
      </p:sp>
      <p:sp>
        <p:nvSpPr>
          <p:cNvPr id="1048606" name="Shape 20"/>
          <p:cNvSpPr/>
          <p:nvPr/>
        </p:nvSpPr>
        <p:spPr>
          <a:xfrm>
            <a:off x="6309360" y="3465576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07" name="Text 21"/>
          <p:cNvSpPr/>
          <p:nvPr/>
        </p:nvSpPr>
        <p:spPr>
          <a:xfrm>
            <a:off x="6309360" y="34655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600" lang="en-US"/>
          </a:p>
        </p:txBody>
      </p:sp>
      <p:sp>
        <p:nvSpPr>
          <p:cNvPr id="1048608" name="Text 22"/>
          <p:cNvSpPr/>
          <p:nvPr/>
        </p:nvSpPr>
        <p:spPr>
          <a:xfrm>
            <a:off x="6839712" y="3465576"/>
            <a:ext cx="46634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dos usuários</a:t>
            </a:r>
            <a:endParaRPr dirty="0" sz="1600" lang="en-US"/>
          </a:p>
        </p:txBody>
      </p:sp>
      <p:sp>
        <p:nvSpPr>
          <p:cNvPr id="1048609" name="Text 23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610" name="Text 24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Image 0" descr="/home/claude/logo_unipe_transparen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614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identificado</a:t>
            </a:r>
            <a:endParaRPr dirty="0" sz="3400" lang="en-US"/>
          </a:p>
        </p:txBody>
      </p:sp>
      <p:sp>
        <p:nvSpPr>
          <p:cNvPr id="1048615" name="Text 1"/>
          <p:cNvSpPr/>
          <p:nvPr/>
        </p:nvSpPr>
        <p:spPr>
          <a:xfrm>
            <a:off x="548640" y="1874520"/>
            <a:ext cx="6400800" cy="4206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dirty="0" sz="15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compram material novo (livros, calculadoras, apostilas, uniformes) sem saber que colegas têm o mesmo item usado e querem vender ou trocar.</a:t>
            </a:r>
            <a:endParaRPr dirty="0" sz="1500" lang="en-US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dirty="0" sz="15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trocas hoje acontecem de forma informal e dispersa: grupos de WhatsApp, murais físicos e posts soltos em redes sociais, sem organização nem confiança.</a:t>
            </a:r>
            <a:endParaRPr dirty="0" sz="150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5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e demais membros da comunidade acadêmica também ficam de fora dessas trocas, por falta de um canal único e confiável dentro da própria universidade.</a:t>
            </a:r>
            <a:endParaRPr dirty="0" sz="1500" lang="en-US"/>
          </a:p>
        </p:txBody>
      </p:sp>
      <p:sp>
        <p:nvSpPr>
          <p:cNvPr id="1048616" name="Shape 2"/>
          <p:cNvSpPr/>
          <p:nvPr/>
        </p:nvSpPr>
        <p:spPr>
          <a:xfrm>
            <a:off x="7315200" y="187452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F4F6FB"/>
          </a:solidFill>
          <a:effectLst>
            <a:outerShdw algn="bl" blurRad="1016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17" name="Shape 3"/>
          <p:cNvSpPr/>
          <p:nvPr/>
        </p:nvSpPr>
        <p:spPr>
          <a:xfrm>
            <a:off x="7635240" y="214884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56" name="Image 1" descr="/home/claude/icons/search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754112" y="2267712"/>
            <a:ext cx="265176" cy="265176"/>
          </a:xfrm>
          <a:prstGeom prst="rect"/>
        </p:spPr>
      </p:pic>
      <p:sp>
        <p:nvSpPr>
          <p:cNvPr id="1048618" name="Text 4"/>
          <p:cNvSpPr/>
          <p:nvPr/>
        </p:nvSpPr>
        <p:spPr>
          <a:xfrm>
            <a:off x="8275320" y="2112264"/>
            <a:ext cx="310896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</a:t>
            </a:r>
            <a:endParaRPr dirty="0" sz="1400" lang="en-US"/>
          </a:p>
        </p:txBody>
      </p:sp>
      <p:sp>
        <p:nvSpPr>
          <p:cNvPr id="1048619" name="Text 5"/>
          <p:cNvSpPr/>
          <p:nvPr/>
        </p:nvSpPr>
        <p:spPr>
          <a:xfrm>
            <a:off x="8275320" y="2386584"/>
            <a:ext cx="310896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único para anunciar ou buscar itens dentro da universidade</a:t>
            </a:r>
            <a:endParaRPr dirty="0" sz="1100" lang="en-US"/>
          </a:p>
        </p:txBody>
      </p:sp>
      <p:sp>
        <p:nvSpPr>
          <p:cNvPr id="1048620" name="Shape 6"/>
          <p:cNvSpPr/>
          <p:nvPr/>
        </p:nvSpPr>
        <p:spPr>
          <a:xfrm>
            <a:off x="7635240" y="347472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57" name="Image 2" descr="/home/claude/icons/comment_whit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754112" y="3593592"/>
            <a:ext cx="265176" cy="265176"/>
          </a:xfrm>
          <a:prstGeom prst="rect"/>
        </p:spPr>
      </p:pic>
      <p:sp>
        <p:nvSpPr>
          <p:cNvPr id="1048621" name="Text 7"/>
          <p:cNvSpPr/>
          <p:nvPr/>
        </p:nvSpPr>
        <p:spPr>
          <a:xfrm>
            <a:off x="8275320" y="3438144"/>
            <a:ext cx="310896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</a:t>
            </a:r>
            <a:endParaRPr dirty="0" sz="1400" lang="en-US"/>
          </a:p>
        </p:txBody>
      </p:sp>
      <p:sp>
        <p:nvSpPr>
          <p:cNvPr id="1048622" name="Text 8"/>
          <p:cNvSpPr/>
          <p:nvPr/>
        </p:nvSpPr>
        <p:spPr>
          <a:xfrm>
            <a:off x="8275320" y="3712464"/>
            <a:ext cx="310896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Negociações via grupos de WhatsApp, sem padrão nem registro</a:t>
            </a:r>
            <a:endParaRPr dirty="0" sz="1100" lang="en-US"/>
          </a:p>
        </p:txBody>
      </p:sp>
      <p:sp>
        <p:nvSpPr>
          <p:cNvPr id="1048623" name="Shape 9"/>
          <p:cNvSpPr/>
          <p:nvPr/>
        </p:nvSpPr>
        <p:spPr>
          <a:xfrm>
            <a:off x="7635240" y="480060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58" name="Image 3" descr="/home/claude/icons/shield_whit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754112" y="4919472"/>
            <a:ext cx="265176" cy="265176"/>
          </a:xfrm>
          <a:prstGeom prst="rect"/>
        </p:spPr>
      </p:pic>
      <p:sp>
        <p:nvSpPr>
          <p:cNvPr id="1048624" name="Text 10"/>
          <p:cNvSpPr/>
          <p:nvPr/>
        </p:nvSpPr>
        <p:spPr>
          <a:xfrm>
            <a:off x="8275320" y="4764024"/>
            <a:ext cx="310896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confiança</a:t>
            </a:r>
            <a:endParaRPr dirty="0" sz="1400" lang="en-US"/>
          </a:p>
        </p:txBody>
      </p:sp>
      <p:sp>
        <p:nvSpPr>
          <p:cNvPr id="1048625" name="Text 11"/>
          <p:cNvSpPr/>
          <p:nvPr/>
        </p:nvSpPr>
        <p:spPr>
          <a:xfrm>
            <a:off x="8275320" y="5038344"/>
            <a:ext cx="310896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forma de validar quem é quem dentro da comunidade acadêmica</a:t>
            </a:r>
            <a:endParaRPr dirty="0" sz="1100" lang="en-US"/>
          </a:p>
        </p:txBody>
      </p:sp>
      <p:sp>
        <p:nvSpPr>
          <p:cNvPr id="1048626" name="Text 12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627" name="Text 13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Image 0" descr="/home/claude/logo_unipe_white_tex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631" name="Text 0"/>
          <p:cNvSpPr/>
          <p:nvPr/>
        </p:nvSpPr>
        <p:spPr>
          <a:xfrm>
            <a:off x="548640" y="1005840"/>
            <a:ext cx="7315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dirty="0" sz="3400" lang="en-US"/>
          </a:p>
        </p:txBody>
      </p:sp>
      <p:sp>
        <p:nvSpPr>
          <p:cNvPr id="1048632" name="Text 1"/>
          <p:cNvSpPr/>
          <p:nvPr/>
        </p:nvSpPr>
        <p:spPr>
          <a:xfrm>
            <a:off x="548640" y="1627632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400" lang="en-US"/>
          </a:p>
        </p:txBody>
      </p:sp>
      <p:sp>
        <p:nvSpPr>
          <p:cNvPr id="1048633" name="Shape 2"/>
          <p:cNvSpPr/>
          <p:nvPr/>
        </p:nvSpPr>
        <p:spPr>
          <a:xfrm>
            <a:off x="54864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51B47">
              <a:alpha val="90000"/>
            </a:srgbClr>
          </a:solidFill>
        </p:spPr>
      </p:sp>
      <p:sp>
        <p:nvSpPr>
          <p:cNvPr id="1048634" name="Shape 3"/>
          <p:cNvSpPr/>
          <p:nvPr/>
        </p:nvSpPr>
        <p:spPr>
          <a:xfrm>
            <a:off x="1897380" y="2743200"/>
            <a:ext cx="822960" cy="822960"/>
          </a:xfrm>
          <a:prstGeom prst="ellipse"/>
          <a:solidFill>
            <a:srgbClr val="F2B705"/>
          </a:solidFill>
        </p:spPr>
      </p:sp>
      <p:pic>
        <p:nvPicPr>
          <p:cNvPr id="2097160" name="Image 1" descr="/home/claude/icons/grad_navy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103120" y="2953512"/>
            <a:ext cx="411480" cy="411480"/>
          </a:xfrm>
          <a:prstGeom prst="rect"/>
        </p:spPr>
      </p:pic>
      <p:sp>
        <p:nvSpPr>
          <p:cNvPr id="1048635" name="Text 4"/>
          <p:cNvSpPr/>
          <p:nvPr/>
        </p:nvSpPr>
        <p:spPr>
          <a:xfrm>
            <a:off x="731520" y="3794760"/>
            <a:ext cx="31546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</a:t>
            </a:r>
            <a:endParaRPr dirty="0" sz="1800" lang="en-US"/>
          </a:p>
        </p:txBody>
      </p:sp>
      <p:sp>
        <p:nvSpPr>
          <p:cNvPr id="1048636" name="Text 5"/>
          <p:cNvSpPr/>
          <p:nvPr/>
        </p:nvSpPr>
        <p:spPr>
          <a:xfrm>
            <a:off x="868680" y="4251960"/>
            <a:ext cx="2880360" cy="146304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 pós-graduação que querem comprar, vender ou trocar livros, materiais e equipamentos com outros alunos</a:t>
            </a:r>
            <a:endParaRPr dirty="0" sz="1250" lang="en-US"/>
          </a:p>
        </p:txBody>
      </p:sp>
      <p:sp>
        <p:nvSpPr>
          <p:cNvPr id="1048637" name="Shape 6"/>
          <p:cNvSpPr/>
          <p:nvPr/>
        </p:nvSpPr>
        <p:spPr>
          <a:xfrm>
            <a:off x="438912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51B47">
              <a:alpha val="90000"/>
            </a:srgbClr>
          </a:solidFill>
        </p:spPr>
      </p:sp>
      <p:sp>
        <p:nvSpPr>
          <p:cNvPr id="1048638" name="Shape 7"/>
          <p:cNvSpPr/>
          <p:nvPr/>
        </p:nvSpPr>
        <p:spPr>
          <a:xfrm>
            <a:off x="5737860" y="2743200"/>
            <a:ext cx="822960" cy="822960"/>
          </a:xfrm>
          <a:prstGeom prst="ellipse"/>
          <a:solidFill>
            <a:srgbClr val="F2B705"/>
          </a:solidFill>
        </p:spPr>
      </p:sp>
      <p:pic>
        <p:nvPicPr>
          <p:cNvPr id="2097161" name="Image 2" descr="/home/claude/icons/book_navy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943600" y="2953512"/>
            <a:ext cx="411480" cy="411480"/>
          </a:xfrm>
          <a:prstGeom prst="rect"/>
        </p:spPr>
      </p:pic>
      <p:sp>
        <p:nvSpPr>
          <p:cNvPr id="1048639" name="Text 8"/>
          <p:cNvSpPr/>
          <p:nvPr/>
        </p:nvSpPr>
        <p:spPr>
          <a:xfrm>
            <a:off x="4572000" y="3794760"/>
            <a:ext cx="31546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</a:t>
            </a:r>
            <a:endParaRPr dirty="0" sz="1800" lang="en-US"/>
          </a:p>
        </p:txBody>
      </p:sp>
      <p:sp>
        <p:nvSpPr>
          <p:cNvPr id="1048640" name="Text 9"/>
          <p:cNvSpPr/>
          <p:nvPr/>
        </p:nvSpPr>
        <p:spPr>
          <a:xfrm>
            <a:off x="4709160" y="4251960"/>
            <a:ext cx="2880360" cy="146304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que desejam repassar materiais didáticos, livros e equipamentos acadêmicos</a:t>
            </a:r>
            <a:endParaRPr dirty="0" sz="1250" lang="en-US"/>
          </a:p>
        </p:txBody>
      </p:sp>
      <p:sp>
        <p:nvSpPr>
          <p:cNvPr id="1048641" name="Shape 10"/>
          <p:cNvSpPr/>
          <p:nvPr/>
        </p:nvSpPr>
        <p:spPr>
          <a:xfrm>
            <a:off x="822960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51B47">
              <a:alpha val="90000"/>
            </a:srgbClr>
          </a:solidFill>
        </p:spPr>
      </p:sp>
      <p:sp>
        <p:nvSpPr>
          <p:cNvPr id="1048642" name="Shape 11"/>
          <p:cNvSpPr/>
          <p:nvPr/>
        </p:nvSpPr>
        <p:spPr>
          <a:xfrm>
            <a:off x="9578340" y="2743200"/>
            <a:ext cx="822960" cy="822960"/>
          </a:xfrm>
          <a:prstGeom prst="ellipse"/>
          <a:solidFill>
            <a:srgbClr val="F2B705"/>
          </a:solidFill>
        </p:spPr>
      </p:sp>
      <p:pic>
        <p:nvPicPr>
          <p:cNvPr id="2097162" name="Image 3" descr="/home/claude/icons/users_navy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784080" y="2953512"/>
            <a:ext cx="411480" cy="411480"/>
          </a:xfrm>
          <a:prstGeom prst="rect"/>
        </p:spPr>
      </p:pic>
      <p:sp>
        <p:nvSpPr>
          <p:cNvPr id="1048643" name="Text 12"/>
          <p:cNvSpPr/>
          <p:nvPr/>
        </p:nvSpPr>
        <p:spPr>
          <a:xfrm>
            <a:off x="8412480" y="3794760"/>
            <a:ext cx="31546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UNIPÊ</a:t>
            </a:r>
            <a:endParaRPr dirty="0" sz="1800" lang="en-US"/>
          </a:p>
        </p:txBody>
      </p:sp>
      <p:sp>
        <p:nvSpPr>
          <p:cNvPr id="1048644" name="Text 13"/>
          <p:cNvSpPr/>
          <p:nvPr/>
        </p:nvSpPr>
        <p:spPr>
          <a:xfrm>
            <a:off x="8549640" y="4251960"/>
            <a:ext cx="2880360" cy="146304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 demais integrantes da universidade que fazem parte do mesmo ambiente acadêmico</a:t>
            </a:r>
            <a:endParaRPr dirty="0" sz="1250" lang="en-US"/>
          </a:p>
        </p:txBody>
      </p:sp>
      <p:sp>
        <p:nvSpPr>
          <p:cNvPr id="1048645" name="Text 14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646" name="Text 15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0" descr="/home/claude/logo_unipe_transparen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650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proposta</a:t>
            </a:r>
            <a:endParaRPr dirty="0" sz="3400" lang="en-US"/>
          </a:p>
        </p:txBody>
      </p:sp>
      <p:sp>
        <p:nvSpPr>
          <p:cNvPr id="1048651" name="Text 1"/>
          <p:cNvSpPr/>
          <p:nvPr/>
        </p:nvSpPr>
        <p:spPr>
          <a:xfrm>
            <a:off x="548640" y="1691640"/>
            <a:ext cx="1088136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5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b="1" dirty="0" sz="15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UniTrade</a:t>
            </a:r>
            <a:r>
              <a:rPr dirty="0" sz="1500" lang="en-US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plataforma web/mobile para vendas e trocas entre alunos, professores e demais membros da universidade, em um ambiente fechado e confiável.</a:t>
            </a:r>
            <a:endParaRPr dirty="0" sz="1500" lang="en-US"/>
          </a:p>
        </p:txBody>
      </p:sp>
      <p:sp>
        <p:nvSpPr>
          <p:cNvPr id="1048652" name="Shape 2"/>
          <p:cNvSpPr/>
          <p:nvPr/>
        </p:nvSpPr>
        <p:spPr>
          <a:xfrm>
            <a:off x="548640" y="26060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653" name="Text 3"/>
          <p:cNvSpPr/>
          <p:nvPr/>
        </p:nvSpPr>
        <p:spPr>
          <a:xfrm>
            <a:off x="731520" y="278892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2000" lang="en-US"/>
          </a:p>
        </p:txBody>
      </p:sp>
      <p:sp>
        <p:nvSpPr>
          <p:cNvPr id="1048654" name="Shape 4"/>
          <p:cNvSpPr/>
          <p:nvPr/>
        </p:nvSpPr>
        <p:spPr>
          <a:xfrm>
            <a:off x="731520" y="3291840"/>
            <a:ext cx="548640" cy="548640"/>
          </a:xfrm>
          <a:prstGeom prst="ellipse"/>
          <a:solidFill>
            <a:srgbClr val="1E2761"/>
          </a:solidFill>
        </p:spPr>
      </p:sp>
      <p:pic>
        <p:nvPicPr>
          <p:cNvPr id="2097164" name="Image 1" descr="/home/claude/icons/grad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4108" y="3429000"/>
            <a:ext cx="274320" cy="274320"/>
          </a:xfrm>
          <a:prstGeom prst="rect"/>
        </p:spPr>
      </p:pic>
      <p:sp>
        <p:nvSpPr>
          <p:cNvPr id="1048655" name="Text 5"/>
          <p:cNvSpPr/>
          <p:nvPr/>
        </p:nvSpPr>
        <p:spPr>
          <a:xfrm>
            <a:off x="731520" y="4023360"/>
            <a:ext cx="2240280" cy="5486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institucional</a:t>
            </a:r>
            <a:endParaRPr dirty="0" sz="1350" lang="en-US"/>
          </a:p>
        </p:txBody>
      </p:sp>
      <p:sp>
        <p:nvSpPr>
          <p:cNvPr id="1048656" name="Text 6"/>
          <p:cNvSpPr/>
          <p:nvPr/>
        </p:nvSpPr>
        <p:spPr>
          <a:xfrm>
            <a:off x="731520" y="4572000"/>
            <a:ext cx="2240280" cy="11887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e-mail acadêmico, validando que o usuário pertence à universidade</a:t>
            </a:r>
            <a:endParaRPr dirty="0" sz="1100" lang="en-US"/>
          </a:p>
        </p:txBody>
      </p:sp>
      <p:sp>
        <p:nvSpPr>
          <p:cNvPr id="1048657" name="Shape 7"/>
          <p:cNvSpPr/>
          <p:nvPr/>
        </p:nvSpPr>
        <p:spPr>
          <a:xfrm>
            <a:off x="3383280" y="26060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658" name="Text 8"/>
          <p:cNvSpPr/>
          <p:nvPr/>
        </p:nvSpPr>
        <p:spPr>
          <a:xfrm>
            <a:off x="3566160" y="278892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2000" lang="en-US"/>
          </a:p>
        </p:txBody>
      </p:sp>
      <p:sp>
        <p:nvSpPr>
          <p:cNvPr id="1048659" name="Shape 9"/>
          <p:cNvSpPr/>
          <p:nvPr/>
        </p:nvSpPr>
        <p:spPr>
          <a:xfrm>
            <a:off x="3566160" y="3291840"/>
            <a:ext cx="548640" cy="548640"/>
          </a:xfrm>
          <a:prstGeom prst="ellipse"/>
          <a:solidFill>
            <a:srgbClr val="1E2761"/>
          </a:solidFill>
        </p:spPr>
      </p:sp>
      <p:pic>
        <p:nvPicPr>
          <p:cNvPr id="2097165" name="Image 2" descr="/home/claude/icons/search_whit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698748" y="3429000"/>
            <a:ext cx="274320" cy="274320"/>
          </a:xfrm>
          <a:prstGeom prst="rect"/>
        </p:spPr>
      </p:pic>
      <p:sp>
        <p:nvSpPr>
          <p:cNvPr id="1048660" name="Text 10"/>
          <p:cNvSpPr/>
          <p:nvPr/>
        </p:nvSpPr>
        <p:spPr>
          <a:xfrm>
            <a:off x="3566160" y="4023360"/>
            <a:ext cx="2240280" cy="5486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anúncio</a:t>
            </a:r>
            <a:endParaRPr dirty="0" sz="1350" lang="en-US"/>
          </a:p>
        </p:txBody>
      </p:sp>
      <p:sp>
        <p:nvSpPr>
          <p:cNvPr id="1048661" name="Text 11"/>
          <p:cNvSpPr/>
          <p:nvPr/>
        </p:nvSpPr>
        <p:spPr>
          <a:xfrm>
            <a:off x="3566160" y="4572000"/>
            <a:ext cx="2240280" cy="11887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de itens para venda ou troca, com categoria, fotos e descrição</a:t>
            </a:r>
            <a:endParaRPr dirty="0" sz="1100" lang="en-US"/>
          </a:p>
        </p:txBody>
      </p:sp>
      <p:sp>
        <p:nvSpPr>
          <p:cNvPr id="1048662" name="Shape 12"/>
          <p:cNvSpPr/>
          <p:nvPr/>
        </p:nvSpPr>
        <p:spPr>
          <a:xfrm>
            <a:off x="6217920" y="26060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663" name="Text 13"/>
          <p:cNvSpPr/>
          <p:nvPr/>
        </p:nvSpPr>
        <p:spPr>
          <a:xfrm>
            <a:off x="6400800" y="278892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2000" lang="en-US"/>
          </a:p>
        </p:txBody>
      </p:sp>
      <p:sp>
        <p:nvSpPr>
          <p:cNvPr id="1048664" name="Shape 14"/>
          <p:cNvSpPr/>
          <p:nvPr/>
        </p:nvSpPr>
        <p:spPr>
          <a:xfrm>
            <a:off x="6400800" y="3291840"/>
            <a:ext cx="548640" cy="548640"/>
          </a:xfrm>
          <a:prstGeom prst="ellipse"/>
          <a:solidFill>
            <a:srgbClr val="1E2761"/>
          </a:solidFill>
        </p:spPr>
      </p:sp>
      <p:pic>
        <p:nvPicPr>
          <p:cNvPr id="2097166" name="Image 3" descr="/home/claude/icons/comment_whit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533388" y="3429000"/>
            <a:ext cx="274320" cy="274320"/>
          </a:xfrm>
          <a:prstGeom prst="rect"/>
        </p:spPr>
      </p:pic>
      <p:sp>
        <p:nvSpPr>
          <p:cNvPr id="1048665" name="Text 15"/>
          <p:cNvSpPr/>
          <p:nvPr/>
        </p:nvSpPr>
        <p:spPr>
          <a:xfrm>
            <a:off x="6400800" y="4023360"/>
            <a:ext cx="2240280" cy="5486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no chat</a:t>
            </a:r>
            <a:endParaRPr dirty="0" sz="1350" lang="en-US"/>
          </a:p>
        </p:txBody>
      </p:sp>
      <p:sp>
        <p:nvSpPr>
          <p:cNvPr id="1048666" name="Text 16"/>
          <p:cNvSpPr/>
          <p:nvPr/>
        </p:nvSpPr>
        <p:spPr>
          <a:xfrm>
            <a:off x="6400800" y="4572000"/>
            <a:ext cx="2240280" cy="11887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direta entre as partes dentro do próprio aplicativo</a:t>
            </a:r>
            <a:endParaRPr dirty="0" sz="1100" lang="en-US"/>
          </a:p>
        </p:txBody>
      </p:sp>
      <p:sp>
        <p:nvSpPr>
          <p:cNvPr id="1048667" name="Shape 17"/>
          <p:cNvSpPr/>
          <p:nvPr/>
        </p:nvSpPr>
        <p:spPr>
          <a:xfrm>
            <a:off x="9052560" y="26060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668" name="Text 18"/>
          <p:cNvSpPr/>
          <p:nvPr/>
        </p:nvSpPr>
        <p:spPr>
          <a:xfrm>
            <a:off x="9235440" y="278892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dirty="0" sz="2000" lang="en-US"/>
          </a:p>
        </p:txBody>
      </p:sp>
      <p:sp>
        <p:nvSpPr>
          <p:cNvPr id="1048669" name="Shape 19"/>
          <p:cNvSpPr/>
          <p:nvPr/>
        </p:nvSpPr>
        <p:spPr>
          <a:xfrm>
            <a:off x="9235440" y="3291840"/>
            <a:ext cx="548640" cy="548640"/>
          </a:xfrm>
          <a:prstGeom prst="ellipse"/>
          <a:solidFill>
            <a:srgbClr val="1E2761"/>
          </a:solidFill>
        </p:spPr>
      </p:sp>
      <p:pic>
        <p:nvPicPr>
          <p:cNvPr id="2097167" name="Image 4" descr="/home/claude/icons/check_whit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368028" y="3429000"/>
            <a:ext cx="274320" cy="274320"/>
          </a:xfrm>
          <a:prstGeom prst="rect"/>
        </p:spPr>
      </p:pic>
      <p:sp>
        <p:nvSpPr>
          <p:cNvPr id="1048670" name="Text 20"/>
          <p:cNvSpPr/>
          <p:nvPr/>
        </p:nvSpPr>
        <p:spPr>
          <a:xfrm>
            <a:off x="9235440" y="4023360"/>
            <a:ext cx="2240280" cy="5486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seguro</a:t>
            </a:r>
            <a:endParaRPr dirty="0" sz="1350" lang="en-US"/>
          </a:p>
        </p:txBody>
      </p:sp>
      <p:sp>
        <p:nvSpPr>
          <p:cNvPr id="1048671" name="Text 21"/>
          <p:cNvSpPr/>
          <p:nvPr/>
        </p:nvSpPr>
        <p:spPr>
          <a:xfrm>
            <a:off x="9235440" y="4572000"/>
            <a:ext cx="2240280" cy="11887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entrega presencial no campus e avaliação da negociação</a:t>
            </a:r>
            <a:endParaRPr dirty="0" sz="1100" lang="en-US"/>
          </a:p>
        </p:txBody>
      </p:sp>
      <p:sp>
        <p:nvSpPr>
          <p:cNvPr id="1048672" name="Text 22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673" name="Text 23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0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Image 0" descr="/home/claude/logo_unipe_transparen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677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do protótipo</a:t>
            </a:r>
            <a:endParaRPr dirty="0" sz="3400" lang="en-US"/>
          </a:p>
        </p:txBody>
      </p:sp>
      <p:sp>
        <p:nvSpPr>
          <p:cNvPr id="1048678" name="Text 1"/>
          <p:cNvSpPr/>
          <p:nvPr/>
        </p:nvSpPr>
        <p:spPr>
          <a:xfrm>
            <a:off x="548640" y="169164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apresentar as telas e o fluxo de uso do UniTrade</a:t>
            </a:r>
            <a:endParaRPr dirty="0" sz="1400" lang="en-US"/>
          </a:p>
        </p:txBody>
      </p:sp>
      <p:sp>
        <p:nvSpPr>
          <p:cNvPr id="1048679" name="Shape 2"/>
          <p:cNvSpPr/>
          <p:nvPr/>
        </p:nvSpPr>
        <p:spPr>
          <a:xfrm>
            <a:off x="548640" y="2148840"/>
            <a:ext cx="1783080" cy="3246120"/>
          </a:xfrm>
          <a:prstGeom prst="roundRect">
            <a:avLst>
              <a:gd name="adj" fmla="val 8205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48681" name="Text 4"/>
          <p:cNvSpPr/>
          <p:nvPr/>
        </p:nvSpPr>
        <p:spPr>
          <a:xfrm>
            <a:off x="457200" y="5504688"/>
            <a:ext cx="19659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</a:t>
            </a:r>
            <a:endParaRPr dirty="0" sz="1200" lang="en-US"/>
          </a:p>
        </p:txBody>
      </p:sp>
      <p:sp>
        <p:nvSpPr>
          <p:cNvPr id="1048682" name="Shape 5"/>
          <p:cNvSpPr/>
          <p:nvPr/>
        </p:nvSpPr>
        <p:spPr>
          <a:xfrm>
            <a:off x="2697480" y="2148840"/>
            <a:ext cx="1783080" cy="3246120"/>
          </a:xfrm>
          <a:prstGeom prst="roundRect">
            <a:avLst>
              <a:gd name="adj" fmla="val 8205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48684" name="Text 7"/>
          <p:cNvSpPr/>
          <p:nvPr/>
        </p:nvSpPr>
        <p:spPr>
          <a:xfrm>
            <a:off x="2606040" y="5504688"/>
            <a:ext cx="19659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itens</a:t>
            </a:r>
            <a:endParaRPr dirty="0" sz="1200" lang="en-US"/>
          </a:p>
        </p:txBody>
      </p:sp>
      <p:sp>
        <p:nvSpPr>
          <p:cNvPr id="1048685" name="Shape 8"/>
          <p:cNvSpPr/>
          <p:nvPr/>
        </p:nvSpPr>
        <p:spPr>
          <a:xfrm>
            <a:off x="4846320" y="2148840"/>
            <a:ext cx="1783080" cy="3246120"/>
          </a:xfrm>
          <a:prstGeom prst="roundRect">
            <a:avLst>
              <a:gd name="adj" fmla="val 8205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48687" name="Text 10"/>
          <p:cNvSpPr/>
          <p:nvPr/>
        </p:nvSpPr>
        <p:spPr>
          <a:xfrm>
            <a:off x="4754880" y="5504688"/>
            <a:ext cx="19659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de negociação</a:t>
            </a:r>
            <a:endParaRPr dirty="0" sz="1200" lang="en-US"/>
          </a:p>
        </p:txBody>
      </p:sp>
      <p:sp>
        <p:nvSpPr>
          <p:cNvPr id="1048692" name="Text 15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693" name="Text 16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000" lang="en-US"/>
          </a:p>
        </p:txBody>
      </p:sp>
      <p:pic>
        <p:nvPicPr>
          <p:cNvPr id="209718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646039" y="2191214"/>
            <a:ext cx="1558924" cy="3077432"/>
          </a:xfrm>
          <a:prstGeom prst="rect"/>
        </p:spPr>
      </p:pic>
      <p:pic>
        <p:nvPicPr>
          <p:cNvPr id="2097183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2877446" y="2282680"/>
            <a:ext cx="1557393" cy="3070080"/>
          </a:xfrm>
          <a:prstGeom prst="rect"/>
        </p:spPr>
      </p:pic>
      <p:pic>
        <p:nvPicPr>
          <p:cNvPr id="2097184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4984753" y="2228382"/>
            <a:ext cx="1580480" cy="3124377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Image 0" descr="/home/claude/logo_unipe_white_tex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697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do algoritmo</a:t>
            </a:r>
            <a:endParaRPr dirty="0" sz="3400" lang="en-US"/>
          </a:p>
        </p:txBody>
      </p:sp>
      <p:sp>
        <p:nvSpPr>
          <p:cNvPr id="1048698" name="Text 1"/>
          <p:cNvSpPr/>
          <p:nvPr/>
        </p:nvSpPr>
        <p:spPr>
          <a:xfrm>
            <a:off x="548640" y="1627632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UniTrade organiza e recomenda os itens aos usuários</a:t>
            </a:r>
            <a:endParaRPr dirty="0" sz="1400" lang="en-US"/>
          </a:p>
        </p:txBody>
      </p:sp>
      <p:sp>
        <p:nvSpPr>
          <p:cNvPr id="1048699" name="Shape 2"/>
          <p:cNvSpPr/>
          <p:nvPr/>
        </p:nvSpPr>
        <p:spPr>
          <a:xfrm>
            <a:off x="548640" y="2331720"/>
            <a:ext cx="594360" cy="594360"/>
          </a:xfrm>
          <a:prstGeom prst="ellipse"/>
          <a:solidFill>
            <a:srgbClr val="F2B705"/>
          </a:solidFill>
        </p:spPr>
      </p:sp>
      <p:pic>
        <p:nvPicPr>
          <p:cNvPr id="2097171" name="Image 1" descr="/home/claude/icons/search_navy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94944" y="2478024"/>
            <a:ext cx="301752" cy="301752"/>
          </a:xfrm>
          <a:prstGeom prst="rect"/>
        </p:spPr>
      </p:pic>
      <p:sp>
        <p:nvSpPr>
          <p:cNvPr id="1048700" name="Text 3"/>
          <p:cNvSpPr/>
          <p:nvPr/>
        </p:nvSpPr>
        <p:spPr>
          <a:xfrm>
            <a:off x="548640" y="3108960"/>
            <a:ext cx="3429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dados</a:t>
            </a:r>
            <a:endParaRPr dirty="0" sz="1500" lang="en-US"/>
          </a:p>
        </p:txBody>
      </p:sp>
      <p:sp>
        <p:nvSpPr>
          <p:cNvPr id="1048701" name="Text 4"/>
          <p:cNvSpPr/>
          <p:nvPr/>
        </p:nvSpPr>
        <p:spPr>
          <a:xfrm>
            <a:off x="548640" y="3566160"/>
            <a:ext cx="3429000" cy="15544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palavras-chave, estado de conservação, preço e localização do item cadastrado</a:t>
            </a:r>
            <a:endParaRPr dirty="0" sz="1200" lang="en-US"/>
          </a:p>
        </p:txBody>
      </p:sp>
      <p:sp>
        <p:nvSpPr>
          <p:cNvPr id="1048702" name="Shape 5"/>
          <p:cNvSpPr/>
          <p:nvPr/>
        </p:nvSpPr>
        <p:spPr>
          <a:xfrm>
            <a:off x="4297680" y="2331720"/>
            <a:ext cx="594360" cy="594360"/>
          </a:xfrm>
          <a:prstGeom prst="ellipse"/>
          <a:solidFill>
            <a:srgbClr val="F2B705"/>
          </a:solidFill>
        </p:spPr>
      </p:sp>
      <p:pic>
        <p:nvPicPr>
          <p:cNvPr id="2097172" name="Image 2" descr="/home/claude/icons/cogs_navy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443984" y="2478024"/>
            <a:ext cx="301752" cy="301752"/>
          </a:xfrm>
          <a:prstGeom prst="rect"/>
        </p:spPr>
      </p:pic>
      <p:sp>
        <p:nvSpPr>
          <p:cNvPr id="1048703" name="Text 6"/>
          <p:cNvSpPr/>
          <p:nvPr/>
        </p:nvSpPr>
        <p:spPr>
          <a:xfrm>
            <a:off x="4297680" y="3108960"/>
            <a:ext cx="3429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e ranking</a:t>
            </a:r>
            <a:endParaRPr dirty="0" sz="1500" lang="en-US"/>
          </a:p>
        </p:txBody>
      </p:sp>
      <p:sp>
        <p:nvSpPr>
          <p:cNvPr id="1048704" name="Text 7"/>
          <p:cNvSpPr/>
          <p:nvPr/>
        </p:nvSpPr>
        <p:spPr>
          <a:xfrm>
            <a:off x="4297680" y="3566160"/>
            <a:ext cx="3429000" cy="15544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organiza os resultados por relevância: proximidade do curso, categoria buscada e data de publicação</a:t>
            </a:r>
            <a:endParaRPr dirty="0" sz="1200" lang="en-US"/>
          </a:p>
        </p:txBody>
      </p:sp>
      <p:sp>
        <p:nvSpPr>
          <p:cNvPr id="1048705" name="Shape 8"/>
          <p:cNvSpPr/>
          <p:nvPr/>
        </p:nvSpPr>
        <p:spPr>
          <a:xfrm>
            <a:off x="8046720" y="2331720"/>
            <a:ext cx="594360" cy="594360"/>
          </a:xfrm>
          <a:prstGeom prst="ellipse"/>
          <a:solidFill>
            <a:srgbClr val="F2B705"/>
          </a:solidFill>
        </p:spPr>
      </p:sp>
      <p:pic>
        <p:nvPicPr>
          <p:cNvPr id="2097173" name="Image 3" descr="/home/claude/icons/bell_navy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193024" y="2478024"/>
            <a:ext cx="301752" cy="301752"/>
          </a:xfrm>
          <a:prstGeom prst="rect"/>
        </p:spPr>
      </p:pic>
      <p:sp>
        <p:nvSpPr>
          <p:cNvPr id="1048706" name="Text 9"/>
          <p:cNvSpPr/>
          <p:nvPr/>
        </p:nvSpPr>
        <p:spPr>
          <a:xfrm>
            <a:off x="8046720" y="3108960"/>
            <a:ext cx="3429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de match</a:t>
            </a:r>
            <a:endParaRPr dirty="0" sz="1500" lang="en-US"/>
          </a:p>
        </p:txBody>
      </p:sp>
      <p:sp>
        <p:nvSpPr>
          <p:cNvPr id="1048707" name="Text 10"/>
          <p:cNvSpPr/>
          <p:nvPr/>
        </p:nvSpPr>
        <p:spPr>
          <a:xfrm>
            <a:off x="8046720" y="3566160"/>
            <a:ext cx="3429000" cy="15544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item compatível com o interesse do usuário é publicado, ele recebe um alerta automático</a:t>
            </a:r>
            <a:endParaRPr dirty="0" sz="1200" lang="en-US"/>
          </a:p>
        </p:txBody>
      </p:sp>
      <p:sp>
        <p:nvSpPr>
          <p:cNvPr id="1048708" name="Text 11"/>
          <p:cNvSpPr/>
          <p:nvPr/>
        </p:nvSpPr>
        <p:spPr>
          <a:xfrm>
            <a:off x="548640" y="5029200"/>
            <a:ext cx="10881360" cy="7315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endParaRPr dirty="0" sz="1200" lang="en-US"/>
          </a:p>
        </p:txBody>
      </p:sp>
      <p:sp>
        <p:nvSpPr>
          <p:cNvPr id="1048709" name="Text 12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710" name="Text 13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Image 0" descr="/home/claude/logo_unipe_transparen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714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Inovação</a:t>
            </a:r>
            <a:endParaRPr dirty="0" sz="3400" lang="en-US"/>
          </a:p>
        </p:txBody>
      </p:sp>
      <p:sp>
        <p:nvSpPr>
          <p:cNvPr id="1048715" name="Text 1"/>
          <p:cNvSpPr/>
          <p:nvPr/>
        </p:nvSpPr>
        <p:spPr>
          <a:xfrm>
            <a:off x="548640" y="169164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400" lang="en-US"/>
          </a:p>
        </p:txBody>
      </p:sp>
      <p:sp>
        <p:nvSpPr>
          <p:cNvPr id="1048716" name="Shape 2"/>
          <p:cNvSpPr/>
          <p:nvPr/>
        </p:nvSpPr>
        <p:spPr>
          <a:xfrm>
            <a:off x="548640" y="22860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717" name="Shape 3"/>
          <p:cNvSpPr/>
          <p:nvPr/>
        </p:nvSpPr>
        <p:spPr>
          <a:xfrm>
            <a:off x="822960" y="256032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75" name="Image 1" descr="/home/claude/icons/shield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41832" y="2679192"/>
            <a:ext cx="265176" cy="265176"/>
          </a:xfrm>
          <a:prstGeom prst="rect"/>
        </p:spPr>
      </p:pic>
      <p:sp>
        <p:nvSpPr>
          <p:cNvPr id="1048718" name="Text 4"/>
          <p:cNvSpPr/>
          <p:nvPr/>
        </p:nvSpPr>
        <p:spPr>
          <a:xfrm>
            <a:off x="1508760" y="2487168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fechado e confiável</a:t>
            </a:r>
            <a:endParaRPr dirty="0" sz="1400" lang="en-US"/>
          </a:p>
        </p:txBody>
      </p:sp>
      <p:sp>
        <p:nvSpPr>
          <p:cNvPr id="1048719" name="Text 5"/>
          <p:cNvSpPr/>
          <p:nvPr/>
        </p:nvSpPr>
        <p:spPr>
          <a:xfrm>
            <a:off x="1508760" y="2944368"/>
            <a:ext cx="41148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15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à comunidade acadêmica via e-mail institucional, reduzindo riscos de fraude</a:t>
            </a:r>
            <a:endParaRPr dirty="0" sz="1150" lang="en-US"/>
          </a:p>
        </p:txBody>
      </p:sp>
      <p:sp>
        <p:nvSpPr>
          <p:cNvPr id="1048720" name="Shape 6"/>
          <p:cNvSpPr/>
          <p:nvPr/>
        </p:nvSpPr>
        <p:spPr>
          <a:xfrm>
            <a:off x="6080760" y="22860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721" name="Shape 7"/>
          <p:cNvSpPr/>
          <p:nvPr/>
        </p:nvSpPr>
        <p:spPr>
          <a:xfrm>
            <a:off x="6355080" y="256032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76" name="Image 2" descr="/home/claude/icons/exchange_whit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73952" y="2679192"/>
            <a:ext cx="265176" cy="265176"/>
          </a:xfrm>
          <a:prstGeom prst="rect"/>
        </p:spPr>
      </p:pic>
      <p:sp>
        <p:nvSpPr>
          <p:cNvPr id="1048722" name="Text 8"/>
          <p:cNvSpPr/>
          <p:nvPr/>
        </p:nvSpPr>
        <p:spPr>
          <a:xfrm>
            <a:off x="7040880" y="2487168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 troca no mesmo lugar</a:t>
            </a:r>
            <a:endParaRPr dirty="0" sz="1400" lang="en-US"/>
          </a:p>
        </p:txBody>
      </p:sp>
      <p:sp>
        <p:nvSpPr>
          <p:cNvPr id="1048723" name="Text 9"/>
          <p:cNvSpPr/>
          <p:nvPr/>
        </p:nvSpPr>
        <p:spPr>
          <a:xfrm>
            <a:off x="7040880" y="2944368"/>
            <a:ext cx="41148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15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marketplaces tradicionais, permite também a troca direta de itens entre usuários</a:t>
            </a:r>
            <a:endParaRPr dirty="0" sz="1150" lang="en-US"/>
          </a:p>
        </p:txBody>
      </p:sp>
      <p:sp>
        <p:nvSpPr>
          <p:cNvPr id="1048724" name="Shape 10"/>
          <p:cNvSpPr/>
          <p:nvPr/>
        </p:nvSpPr>
        <p:spPr>
          <a:xfrm>
            <a:off x="548640" y="41605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725" name="Shape 11"/>
          <p:cNvSpPr/>
          <p:nvPr/>
        </p:nvSpPr>
        <p:spPr>
          <a:xfrm>
            <a:off x="822960" y="443484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77" name="Image 3" descr="/home/claude/icons/grad_whit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41832" y="4553712"/>
            <a:ext cx="265176" cy="265176"/>
          </a:xfrm>
          <a:prstGeom prst="rect"/>
        </p:spPr>
      </p:pic>
      <p:sp>
        <p:nvSpPr>
          <p:cNvPr id="1048726" name="Text 12"/>
          <p:cNvSpPr/>
          <p:nvPr/>
        </p:nvSpPr>
        <p:spPr>
          <a:xfrm>
            <a:off x="1508760" y="4361688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a rotina acadêmica</a:t>
            </a:r>
            <a:endParaRPr dirty="0" sz="1400" lang="en-US"/>
          </a:p>
        </p:txBody>
      </p:sp>
      <p:sp>
        <p:nvSpPr>
          <p:cNvPr id="1048727" name="Text 13"/>
          <p:cNvSpPr/>
          <p:nvPr/>
        </p:nvSpPr>
        <p:spPr>
          <a:xfrm>
            <a:off x="1508760" y="4818888"/>
            <a:ext cx="41148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15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e filtros voltados à vida universitária: livros por disciplina, calculadoras, uniformes</a:t>
            </a:r>
            <a:endParaRPr dirty="0" sz="1150" lang="en-US"/>
          </a:p>
        </p:txBody>
      </p:sp>
      <p:sp>
        <p:nvSpPr>
          <p:cNvPr id="1048728" name="Shape 14"/>
          <p:cNvSpPr/>
          <p:nvPr/>
        </p:nvSpPr>
        <p:spPr>
          <a:xfrm>
            <a:off x="6080760" y="41605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effectLst>
            <a:outerShdw algn="bl" blurRad="76200" dir="5400000" dist="25400" kx="0" ky="0" rotWithShape="0" sx="100000" sy="100000">
              <a:srgbClr val="000000">
                <a:alpha val="10000"/>
              </a:srgbClr>
            </a:outerShdw>
          </a:effectLst>
        </p:spPr>
      </p:sp>
      <p:sp>
        <p:nvSpPr>
          <p:cNvPr id="1048729" name="Shape 15"/>
          <p:cNvSpPr/>
          <p:nvPr/>
        </p:nvSpPr>
        <p:spPr>
          <a:xfrm>
            <a:off x="6355080" y="4434840"/>
            <a:ext cx="502920" cy="502920"/>
          </a:xfrm>
          <a:prstGeom prst="ellipse"/>
          <a:solidFill>
            <a:srgbClr val="1E2761"/>
          </a:solidFill>
        </p:spPr>
      </p:sp>
      <p:pic>
        <p:nvPicPr>
          <p:cNvPr id="2097178" name="Image 4" descr="/home/claude/icons/chart_whit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73952" y="4553712"/>
            <a:ext cx="265176" cy="265176"/>
          </a:xfrm>
          <a:prstGeom prst="rect"/>
        </p:spPr>
      </p:pic>
      <p:sp>
        <p:nvSpPr>
          <p:cNvPr id="1048730" name="Text 16"/>
          <p:cNvSpPr/>
          <p:nvPr/>
        </p:nvSpPr>
        <p:spPr>
          <a:xfrm>
            <a:off x="7040880" y="4361688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inteligente</a:t>
            </a:r>
            <a:endParaRPr dirty="0" sz="1400" lang="en-US"/>
          </a:p>
        </p:txBody>
      </p:sp>
      <p:sp>
        <p:nvSpPr>
          <p:cNvPr id="1048731" name="Text 17"/>
          <p:cNvSpPr/>
          <p:nvPr/>
        </p:nvSpPr>
        <p:spPr>
          <a:xfrm>
            <a:off x="7040880" y="4818888"/>
            <a:ext cx="41148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150" lang="en-US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sugere itens com base no curso e interesses do usuário, não só em busca manual</a:t>
            </a:r>
            <a:endParaRPr dirty="0" sz="1150" lang="en-US"/>
          </a:p>
        </p:txBody>
      </p:sp>
      <p:sp>
        <p:nvSpPr>
          <p:cNvPr id="1048732" name="Text 18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733" name="Text 19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Image 0" descr="/home/claude/logo_unipe_white_tex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292608"/>
            <a:ext cx="1417320" cy="566928"/>
          </a:xfrm>
          <a:prstGeom prst="rect"/>
        </p:spPr>
      </p:pic>
      <p:sp>
        <p:nvSpPr>
          <p:cNvPr id="1048737" name="Text 0"/>
          <p:cNvSpPr/>
          <p:nvPr/>
        </p:nvSpPr>
        <p:spPr>
          <a:xfrm>
            <a:off x="548640" y="1005840"/>
            <a:ext cx="7772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dos usuários</a:t>
            </a:r>
            <a:endParaRPr dirty="0" sz="3400" lang="en-US"/>
          </a:p>
        </p:txBody>
      </p:sp>
      <p:sp>
        <p:nvSpPr>
          <p:cNvPr id="1048738" name="Text 1"/>
          <p:cNvSpPr/>
          <p:nvPr/>
        </p:nvSpPr>
        <p:spPr>
          <a:xfrm>
            <a:off x="548640" y="1627632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dizem os primeiros usuários que testaram o UniTrade</a:t>
            </a:r>
            <a:endParaRPr dirty="0" sz="1400" lang="en-US"/>
          </a:p>
        </p:txBody>
      </p:sp>
      <p:sp>
        <p:nvSpPr>
          <p:cNvPr id="1048739" name="Shape 2"/>
          <p:cNvSpPr/>
          <p:nvPr/>
        </p:nvSpPr>
        <p:spPr>
          <a:xfrm>
            <a:off x="548640" y="23774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51B47">
              <a:alpha val="90000"/>
            </a:srgbClr>
          </a:solidFill>
        </p:spPr>
      </p:sp>
      <p:sp>
        <p:nvSpPr>
          <p:cNvPr id="1048740" name="Text 3"/>
          <p:cNvSpPr/>
          <p:nvPr/>
        </p:nvSpPr>
        <p:spPr>
          <a:xfrm>
            <a:off x="868680" y="2606040"/>
            <a:ext cx="4480560" cy="11430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altLang="pt-BR" dirty="0" sz="13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Destacou a praticidade do sistema</a:t>
            </a:r>
            <a:endParaRPr dirty="0" sz="1350" lang="en-US"/>
          </a:p>
        </p:txBody>
      </p:sp>
      <p:sp>
        <p:nvSpPr>
          <p:cNvPr id="1048741" name="Text 4"/>
          <p:cNvSpPr/>
          <p:nvPr/>
        </p:nvSpPr>
        <p:spPr>
          <a:xfrm>
            <a:off x="868680" y="3840480"/>
            <a:ext cx="44805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tware </a:t>
            </a:r>
            <a:endParaRPr dirty="0" sz="1200" lang="en-US"/>
          </a:p>
        </p:txBody>
      </p:sp>
      <p:sp>
        <p:nvSpPr>
          <p:cNvPr id="1048742" name="Shape 5"/>
          <p:cNvSpPr/>
          <p:nvPr/>
        </p:nvSpPr>
        <p:spPr>
          <a:xfrm>
            <a:off x="6035040" y="23774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51B47">
              <a:alpha val="90000"/>
            </a:srgbClr>
          </a:solidFill>
        </p:spPr>
      </p:sp>
      <p:sp>
        <p:nvSpPr>
          <p:cNvPr id="1048743" name="Text 6"/>
          <p:cNvSpPr/>
          <p:nvPr/>
        </p:nvSpPr>
        <p:spPr>
          <a:xfrm>
            <a:off x="6355080" y="2606040"/>
            <a:ext cx="4480560" cy="11430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altLang="pt-BR" dirty="0" sz="13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Elogiou o design moderno e intuitivo, destacando que conseguiunavegar sem dificuldades desde o primeiro uso</a:t>
            </a:r>
            <a:endParaRPr dirty="0" sz="1350" lang="en-US"/>
          </a:p>
        </p:txBody>
      </p:sp>
      <p:sp>
        <p:nvSpPr>
          <p:cNvPr id="1048744" name="Text 7"/>
          <p:cNvSpPr/>
          <p:nvPr/>
        </p:nvSpPr>
        <p:spPr>
          <a:xfrm>
            <a:off x="6355080" y="3840480"/>
            <a:ext cx="44805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Nóbrega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pt-BR" b="1" dirty="0" sz="1200" lang="pt-BR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ências 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pt-BR" b="1" dirty="0" sz="1200" lang="en-US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pt-BR" b="1" dirty="0" sz="1200" lang="pt-BR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ábeis </a:t>
            </a:r>
            <a:endParaRPr dirty="0" sz="1200" lang="en-US"/>
          </a:p>
        </p:txBody>
      </p:sp>
      <p:sp>
        <p:nvSpPr>
          <p:cNvPr id="1048745" name="Text 8"/>
          <p:cNvSpPr/>
          <p:nvPr/>
        </p:nvSpPr>
        <p:spPr>
          <a:xfrm rot="10800000" flipV="1">
            <a:off x="0" y="5361128"/>
            <a:ext cx="9343686" cy="628147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pt-BR" b="1" dirty="0" sz="1400" i="1" lang="en-US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dirty="0" sz="1200" lang="en-US">
              <a:solidFill>
                <a:srgbClr val="FFC000"/>
              </a:solidFill>
            </a:endParaRPr>
          </a:p>
        </p:txBody>
      </p:sp>
      <p:sp>
        <p:nvSpPr>
          <p:cNvPr id="1048746" name="Text 9"/>
          <p:cNvSpPr/>
          <p:nvPr/>
        </p:nvSpPr>
        <p:spPr>
          <a:xfrm>
            <a:off x="365760" y="6510528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joanacelle@unipe.edu.br</a:t>
            </a:r>
            <a:endParaRPr dirty="0" sz="1000" lang="en-US"/>
          </a:p>
        </p:txBody>
      </p:sp>
      <p:sp>
        <p:nvSpPr>
          <p:cNvPr id="1048747" name="Text 10"/>
          <p:cNvSpPr/>
          <p:nvPr/>
        </p:nvSpPr>
        <p:spPr>
          <a:xfrm>
            <a:off x="11612880" y="6510528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1000" lang="en-US"/>
          </a:p>
        </p:txBody>
      </p:sp>
      <p:sp>
        <p:nvSpPr>
          <p:cNvPr id="1048757" name=""/>
          <p:cNvSpPr txBox="1"/>
          <p:nvPr/>
        </p:nvSpPr>
        <p:spPr>
          <a:xfrm>
            <a:off x="621681" y="5508831"/>
            <a:ext cx="9820504" cy="332741"/>
          </a:xfrm>
          <a:prstGeom prst="rect"/>
        </p:spPr>
        <p:txBody>
          <a:bodyPr rtlCol="0" wrap="square">
            <a:spAutoFit/>
          </a:bodyPr>
          <a:p>
            <a:pPr algn="l" indent="0" marL="0">
              <a:buNone/>
            </a:pPr>
            <a:r>
              <a:rPr altLang="pt-BR" sz="1600" lang="en-US">
                <a:solidFill>
                  <a:srgbClr val="FFFFFF"/>
                </a:solidFill>
              </a:rPr>
              <a:t>D</a:t>
            </a:r>
            <a:r>
              <a:rPr altLang="pt-BR" sz="1600" lang="en-US">
                <a:solidFill>
                  <a:srgbClr val="FFFFFF"/>
                </a:solidFill>
              </a:rPr>
              <a:t>e 5 usuários, que testaram as funcionalidades, 80% concluiu sem dificuldade e 20% com certa dificuldade </a:t>
            </a:r>
            <a:endParaRPr sz="280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UniTrade - Projeto Final Prototipagem de Sistemas Computacionais</dc:title>
  <dc:creator>Joanacelle C. Melo</dc:creator>
  <cp:lastModifiedBy>Joanacelle C. Melo</cp:lastModifiedBy>
  <dcterms:created xsi:type="dcterms:W3CDTF">2026-06-17T08:06:22Z</dcterms:created>
  <dcterms:modified xsi:type="dcterms:W3CDTF">2026-06-17T02:54:07Z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8b0cd98f36be4358a2d2acb258e0744d</vt:lpwstr>
  </property>
</Properties>
</file>